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38344"/>
            <a:ext cx="9144000" cy="10972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-274320" y="731520"/>
            <a:ext cx="4114800" cy="3657600"/>
          </a:xfrm>
          <a:prstGeom prst="rect">
            <a:avLst/>
          </a:prstGeom>
          <a:solidFill>
            <a:srgbClr val="0D4F8B">
              <a:alpha val="30000"/>
            </a:srgbClr>
          </a:solidFill>
          <a:ln w="12700">
            <a:solidFill>
              <a:srgbClr val="0D4F8B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9728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PayWise</a:t>
            </a:r>
            <a:endParaRPr lang="en-US" sz="6000" dirty="0"/>
          </a:p>
        </p:txBody>
      </p:sp>
      <p:sp>
        <p:nvSpPr>
          <p:cNvPr id="6" name="Shape 4"/>
          <p:cNvSpPr/>
          <p:nvPr/>
        </p:nvSpPr>
        <p:spPr>
          <a:xfrm>
            <a:off x="457200" y="2240280"/>
            <a:ext cx="36576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3317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A5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기반 지능형 소비 패턴 분석 서비스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29260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캡스톤 디자인 — 중간 발표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474720"/>
            <a:ext cx="4114800" cy="1325880"/>
          </a:xfrm>
          <a:prstGeom prst="rect">
            <a:avLst/>
          </a:prstGeom>
          <a:solidFill>
            <a:srgbClr val="0D4F8B">
              <a:alpha val="60000"/>
            </a:srgbClr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4360" y="3520440"/>
            <a:ext cx="3840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T15  |  PayWise 팀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2026년 4월</a:t>
            </a:r>
            <a:endParaRPr lang="en-US" sz="14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A5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소비 패턴 분석  +  사기 탐지  +  예산 전략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943600" y="914400"/>
            <a:ext cx="1005840" cy="1005840"/>
          </a:xfrm>
          <a:prstGeom prst="ellipse">
            <a:avLst/>
          </a:prstGeom>
          <a:solidFill>
            <a:srgbClr val="0891B2">
              <a:alpha val="70000"/>
            </a:srgbClr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0760" y="1051560"/>
            <a:ext cx="731520" cy="731520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7315200" y="1920240"/>
            <a:ext cx="822960" cy="822960"/>
          </a:xfrm>
          <a:prstGeom prst="ellipse">
            <a:avLst/>
          </a:prstGeom>
          <a:solidFill>
            <a:srgbClr val="0D4F8B">
              <a:alpha val="80000"/>
            </a:srgbClr>
          </a:solidFill>
          <a:ln w="12700">
            <a:solidFill>
              <a:srgbClr val="06B6D4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4072" y="2029968"/>
            <a:ext cx="594360" cy="59436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400800" y="2926080"/>
            <a:ext cx="822960" cy="822960"/>
          </a:xfrm>
          <a:prstGeom prst="ellipse">
            <a:avLst/>
          </a:prstGeom>
          <a:solidFill>
            <a:srgbClr val="0A1F4F">
              <a:alpha val="90000"/>
            </a:srgbClr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9672" y="3035808"/>
            <a:ext cx="594360" cy="5943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spc="8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  차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4114800" cy="1188720"/>
          </a:xfrm>
          <a:prstGeom prst="rect">
            <a:avLst/>
          </a:prstGeom>
          <a:solidFill>
            <a:srgbClr val="0D3A6B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75488" y="1261872"/>
            <a:ext cx="502920" cy="502920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12618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78992" y="11430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개요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78992" y="16002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4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배경 · 목표 · 문제 정의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63440" y="1005840"/>
            <a:ext cx="4114800" cy="1188720"/>
          </a:xfrm>
          <a:prstGeom prst="rect">
            <a:avLst/>
          </a:prstGeom>
          <a:solidFill>
            <a:srgbClr val="0D3A6B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73168" y="1261872"/>
            <a:ext cx="502920" cy="502920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73168" y="12618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376672" y="11430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시스템 아키텍처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376672" y="16002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4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전체 구조 · 기술 스택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5760" y="2377440"/>
            <a:ext cx="4114800" cy="1188720"/>
          </a:xfrm>
          <a:prstGeom prst="rect">
            <a:avLst/>
          </a:prstGeom>
          <a:solidFill>
            <a:srgbClr val="0D3A6B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5488" y="2633472"/>
            <a:ext cx="502920" cy="502920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" y="2633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78992" y="25146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소비 패턴 분석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78992" y="29718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4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· Isolation Forest · LSTM · XGBoost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663440" y="2377440"/>
            <a:ext cx="4114800" cy="1188720"/>
          </a:xfrm>
          <a:prstGeom prst="rect">
            <a:avLst/>
          </a:prstGeom>
          <a:solidFill>
            <a:srgbClr val="0D3A6B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773168" y="2633472"/>
            <a:ext cx="502920" cy="502920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73168" y="26334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376672" y="25146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사기 탐지 서비스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376672" y="29718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4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IF+RF · 규칙 엔진 · Step-up Auth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3749040"/>
            <a:ext cx="4114800" cy="1188720"/>
          </a:xfrm>
          <a:prstGeom prst="rect">
            <a:avLst/>
          </a:prstGeom>
          <a:solidFill>
            <a:srgbClr val="0D3A6B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75488" y="4005072"/>
            <a:ext cx="502920" cy="502920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5488" y="40050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078992" y="38862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부가 기능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078992" y="43434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4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XAI · FIDO · 감정 분석 · 예산 전략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663440" y="3749040"/>
            <a:ext cx="4114800" cy="1188720"/>
          </a:xfrm>
          <a:prstGeom prst="rect">
            <a:avLst/>
          </a:prstGeom>
          <a:solidFill>
            <a:srgbClr val="0D3A6B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773168" y="4005072"/>
            <a:ext cx="502920" cy="502920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73168" y="40050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16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376672" y="38862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개발 현황 &amp; 향후 계획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5376672" y="43434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4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 기능 · 진행 중 · 로드맵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4F8B"/>
          </a:solidFill>
          <a:ln w="12700">
            <a:solidFill>
              <a:srgbClr val="0D4F8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0" y="0"/>
            <a:ext cx="457200" cy="6858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프로젝트 개요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868680"/>
            <a:ext cx="40233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F2F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868680"/>
            <a:ext cx="64008" cy="192024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914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 정의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32588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카드 소비 내역 확인만 가능 — 분석 없음</a:t>
            </a:r>
            <a:endParaRPr lang="en-US" sz="1150" dirty="0"/>
          </a:p>
          <a:p>
            <a:pPr algn="l"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이상 거래 감지 지연 → 금전적 손실</a:t>
            </a:r>
            <a:endParaRPr lang="en-US" sz="1150" dirty="0"/>
          </a:p>
          <a:p>
            <a:pPr algn="l"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개인화된 예산/절약 조언 부재</a:t>
            </a:r>
            <a:endParaRPr lang="en-US" sz="1150" dirty="0"/>
          </a:p>
          <a:p>
            <a:pPr algn="l"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소비 패턴 기반 사기 탐지 연동 없음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846320" y="868680"/>
            <a:ext cx="402336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F2F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46320" y="868680"/>
            <a:ext cx="64008" cy="192024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0" y="914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솔루션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029200" y="132588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군집화로 소비 유형 분류</a:t>
            </a:r>
            <a:endParaRPr lang="en-US" sz="1150" dirty="0"/>
          </a:p>
          <a:p>
            <a:pPr algn="l"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Forest로 이상 거래 실시간 탐지</a:t>
            </a:r>
            <a:endParaRPr lang="en-US" sz="1150" dirty="0"/>
          </a:p>
          <a:p>
            <a:pPr algn="l"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· XGBoost 기반 예측 및 분류</a:t>
            </a:r>
            <a:endParaRPr lang="en-US" sz="1150" dirty="0"/>
          </a:p>
          <a:p>
            <a:pPr algn="l"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규칙 엔진 + ML 하이브리드 사기 탐지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74320" y="2926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D4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목표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74320" y="3337560"/>
            <a:ext cx="19659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F2F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41832" y="3410712"/>
            <a:ext cx="640080" cy="640080"/>
          </a:xfrm>
          <a:prstGeom prst="ellipse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3502152"/>
            <a:ext cx="457200" cy="45720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274320" y="406908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소비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패턴 분석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2450592" y="3337560"/>
            <a:ext cx="19659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F2F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3118104" y="3410712"/>
            <a:ext cx="640080" cy="640080"/>
          </a:xfrm>
          <a:prstGeom prst="ellipse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9544" y="3502152"/>
            <a:ext cx="457200" cy="45720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2450592" y="406908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실시간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사기 탐지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4626864" y="3337560"/>
            <a:ext cx="19659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F2F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5294376" y="3410712"/>
            <a:ext cx="640080" cy="64008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5816" y="3502152"/>
            <a:ext cx="457200" cy="45720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4626864" y="406908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개인화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예산 전략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6803136" y="3337560"/>
            <a:ext cx="196596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F2F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7470648" y="3410712"/>
            <a:ext cx="640080" cy="640080"/>
          </a:xfrm>
          <a:prstGeom prst="ellipse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2088" y="3502152"/>
            <a:ext cx="457200" cy="45720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6803136" y="406908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소비 유형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군집화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4F8B"/>
          </a:solidFill>
          <a:ln w="12700">
            <a:solidFill>
              <a:srgbClr val="0D4F8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0" y="0"/>
            <a:ext cx="457200" cy="6858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시스템 아키텍처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2651760" cy="219456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5880" y="896112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20040" y="1536192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11480" y="19659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/ React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 · Recharts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971800" y="1737360"/>
            <a:ext cx="228600" cy="6400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200400" y="777240"/>
            <a:ext cx="2651760" cy="2194560"/>
          </a:xfrm>
          <a:prstGeom prst="rect">
            <a:avLst/>
          </a:prstGeom>
          <a:solidFill>
            <a:srgbClr val="0D4F8B"/>
          </a:solidFill>
          <a:ln w="12700">
            <a:solidFill>
              <a:srgbClr val="0D4F8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896112"/>
            <a:ext cx="640080" cy="6400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200400" y="1536192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API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91840" y="19659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(Python)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· Redis · Alembic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852160" y="1737360"/>
            <a:ext cx="228600" cy="6400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080760" y="777240"/>
            <a:ext cx="2651760" cy="219456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896112"/>
            <a:ext cx="640080" cy="6400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080760" y="1536192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Engine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6172200" y="19659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· IF · LSTM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· Trainer Pipeline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320040" y="3200400"/>
            <a:ext cx="8503920" cy="73152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320040" y="3200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연동 서비스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320040" y="3611880"/>
            <a:ext cx="265176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F2F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320040" y="3611880"/>
            <a:ext cx="64008" cy="13258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" y="3749040"/>
            <a:ext cx="411480" cy="41148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978408" y="36576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fraud-service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978408" y="4041648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· RF 사기 탐지 추론 API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Port: 8010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3200400" y="3611880"/>
            <a:ext cx="265176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F2F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3200400" y="3611880"/>
            <a:ext cx="64008" cy="13258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64992" y="3749040"/>
            <a:ext cx="411480" cy="41148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3858768" y="36576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</a:t>
            </a:r>
            <a:endParaRPr lang="en-US" sz="1200" dirty="0"/>
          </a:p>
        </p:txBody>
      </p:sp>
      <p:sp>
        <p:nvSpPr>
          <p:cNvPr id="30" name="Text 23"/>
          <p:cNvSpPr/>
          <p:nvPr/>
        </p:nvSpPr>
        <p:spPr>
          <a:xfrm>
            <a:off x="3858768" y="4041648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+ Frontend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PostgreSQL + Redis</a:t>
            </a:r>
            <a:endParaRPr lang="en-US" sz="1000" dirty="0"/>
          </a:p>
        </p:txBody>
      </p:sp>
      <p:sp>
        <p:nvSpPr>
          <p:cNvPr id="31" name="Shape 24"/>
          <p:cNvSpPr/>
          <p:nvPr/>
        </p:nvSpPr>
        <p:spPr>
          <a:xfrm>
            <a:off x="6080760" y="3611880"/>
            <a:ext cx="265176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F2F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6080760" y="3611880"/>
            <a:ext cx="64008" cy="13258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3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5352" y="3749040"/>
            <a:ext cx="411480" cy="411480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6739128" y="36576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인프라 계획</a:t>
            </a:r>
            <a:endParaRPr lang="en-US" sz="1200" dirty="0"/>
          </a:p>
        </p:txBody>
      </p:sp>
      <p:sp>
        <p:nvSpPr>
          <p:cNvPr id="35" name="Text 27"/>
          <p:cNvSpPr/>
          <p:nvPr/>
        </p:nvSpPr>
        <p:spPr>
          <a:xfrm>
            <a:off x="6739128" y="4041648"/>
            <a:ext cx="1920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· JWT 인증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모바일 반응형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4F8B"/>
          </a:solidFill>
          <a:ln w="12700">
            <a:solidFill>
              <a:srgbClr val="0D4F8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0" y="0"/>
            <a:ext cx="457200" cy="6858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AI 소비 패턴 분석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201168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F2F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822960"/>
            <a:ext cx="2011680" cy="59436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886968"/>
            <a:ext cx="411480" cy="411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22960" y="822960"/>
            <a:ext cx="1417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365760" y="149047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소비 유형 군집화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" y="1874520"/>
            <a:ext cx="18288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카테고리별 지출 비율로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절약형 / 균형형 / 소비형 / 투자형 분류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표준화 + 4-cluster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468880" y="822960"/>
            <a:ext cx="201168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F2F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468880" y="822960"/>
            <a:ext cx="2011680" cy="5943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0320" y="886968"/>
            <a:ext cx="411480" cy="41148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017520" y="822960"/>
            <a:ext cx="1417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Forest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2560320" y="149047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이상 거래 탐지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2560320" y="1874520"/>
            <a:ext cx="18288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비지도 학습 기반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contamination 파라미터 조정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실시간 이상 스코어 산출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4663440" y="822960"/>
            <a:ext cx="201168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F2F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4663440" y="822960"/>
            <a:ext cx="2011680" cy="594360"/>
          </a:xfrm>
          <a:prstGeom prst="rect">
            <a:avLst/>
          </a:prstGeom>
          <a:solidFill>
            <a:srgbClr val="0D4F8B"/>
          </a:solidFill>
          <a:ln w="12700">
            <a:solidFill>
              <a:srgbClr val="0D4F8B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886968"/>
            <a:ext cx="411480" cy="41148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212080" y="822960"/>
            <a:ext cx="1417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4754880" y="149047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D4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지출 예측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4754880" y="1874520"/>
            <a:ext cx="18288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시계열 소비 데이터 학습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달 카테고리별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지출액 예측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6858000" y="822960"/>
            <a:ext cx="201168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F2F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858000" y="822960"/>
            <a:ext cx="2011680" cy="5943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886968"/>
            <a:ext cx="411480" cy="41148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406640" y="822960"/>
            <a:ext cx="1417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1200" dirty="0"/>
          </a:p>
        </p:txBody>
      </p:sp>
      <p:sp>
        <p:nvSpPr>
          <p:cNvPr id="27" name="Text 21"/>
          <p:cNvSpPr/>
          <p:nvPr/>
        </p:nvSpPr>
        <p:spPr>
          <a:xfrm>
            <a:off x="6949440" y="1490472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과소비 분류</a:t>
            </a:r>
            <a:endParaRPr lang="en-US" sz="1100" dirty="0"/>
          </a:p>
        </p:txBody>
      </p:sp>
      <p:sp>
        <p:nvSpPr>
          <p:cNvPr id="28" name="Text 22"/>
          <p:cNvSpPr/>
          <p:nvPr/>
        </p:nvSpPr>
        <p:spPr>
          <a:xfrm>
            <a:off x="6949440" y="1874520"/>
            <a:ext cx="18288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과소비 레이블 기반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지도 학습 분류기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importance 제공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274320" y="3749040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분석 파이프라인: 소비 데이터 수집  →  특성 추출  →  ML 모델 추론  →  결과 API 응답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4F8B"/>
          </a:solidFill>
          <a:ln w="12700">
            <a:solidFill>
              <a:srgbClr val="0D4F8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0" y="0"/>
            <a:ext cx="457200" cy="6858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사기 탐지 서비스 (fraud-service)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11480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F2F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11480" y="8686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4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판단 로직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298448"/>
            <a:ext cx="1097280" cy="4114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29844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600200" y="134416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Score ≥ 0.95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" y="1920240"/>
            <a:ext cx="1097280" cy="4114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192024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600200" y="19659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Score ≥ 0.35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11480" y="2542032"/>
            <a:ext cx="1097280" cy="4114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2542032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SOFT_REVIEW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600200" y="2587752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Score ≥ 0.005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1480" y="3163824"/>
            <a:ext cx="1097280" cy="41148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1480" y="3163824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600200" y="3209544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Score &lt; 0.005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3822192"/>
            <a:ext cx="3840480" cy="73152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11480" y="3913632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규칙 엔진 + ML → 더 강한 action 채택 → Step-up Auth 트리거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663440" y="804672"/>
            <a:ext cx="4206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F2F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63440" y="804672"/>
            <a:ext cx="64008" cy="91440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00600" y="1051560"/>
            <a:ext cx="365760" cy="365760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5285232" y="877824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 Forest (비지도)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5285232" y="1243584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creditcard.csv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contamination · holdout · demo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4663440" y="1828800"/>
            <a:ext cx="4206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F2F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4663440" y="1828800"/>
            <a:ext cx="64008" cy="914400"/>
          </a:xfrm>
          <a:prstGeom prst="rect">
            <a:avLst/>
          </a:prstGeom>
          <a:solidFill>
            <a:srgbClr val="0D4F8B"/>
          </a:solidFill>
          <a:ln w="12700">
            <a:solidFill>
              <a:srgbClr val="0D4F8B"/>
            </a:solidFill>
            <a:prstDash val="solid"/>
          </a:ln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2075688"/>
            <a:ext cx="365760" cy="365760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5285232" y="1901952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(지도)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5285232" y="2267712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과소비 레이블링 기반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데이터셋 학습 + 제출</a:t>
            </a:r>
            <a:endParaRPr lang="en-US" sz="1000" dirty="0"/>
          </a:p>
        </p:txBody>
      </p:sp>
      <p:sp>
        <p:nvSpPr>
          <p:cNvPr id="31" name="Shape 27"/>
          <p:cNvSpPr/>
          <p:nvPr/>
        </p:nvSpPr>
        <p:spPr>
          <a:xfrm>
            <a:off x="4663440" y="2852928"/>
            <a:ext cx="4206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F2F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4663440" y="2852928"/>
            <a:ext cx="64008" cy="9144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0600" y="3099816"/>
            <a:ext cx="365760" cy="365760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5285232" y="2926080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IF + RF</a:t>
            </a:r>
            <a:endParaRPr lang="en-US" sz="1200" dirty="0"/>
          </a:p>
        </p:txBody>
      </p:sp>
      <p:sp>
        <p:nvSpPr>
          <p:cNvPr id="35" name="Text 30"/>
          <p:cNvSpPr/>
          <p:nvPr/>
        </p:nvSpPr>
        <p:spPr>
          <a:xfrm>
            <a:off x="5285232" y="32918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이상 스코어 피처로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 분류 → 비교 분석 CSV</a:t>
            </a:r>
            <a:endParaRPr lang="en-US" sz="1000" dirty="0"/>
          </a:p>
        </p:txBody>
      </p:sp>
      <p:sp>
        <p:nvSpPr>
          <p:cNvPr id="36" name="Shape 31"/>
          <p:cNvSpPr/>
          <p:nvPr/>
        </p:nvSpPr>
        <p:spPr>
          <a:xfrm>
            <a:off x="4663440" y="3877056"/>
            <a:ext cx="42062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0F2F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37" name="Shape 32"/>
          <p:cNvSpPr/>
          <p:nvPr/>
        </p:nvSpPr>
        <p:spPr>
          <a:xfrm>
            <a:off x="4663440" y="3877056"/>
            <a:ext cx="64008" cy="9144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3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4123944"/>
            <a:ext cx="365760" cy="365760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5285232" y="3950208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규칙 엔진</a:t>
            </a:r>
            <a:endParaRPr lang="en-US" sz="1200" dirty="0"/>
          </a:p>
        </p:txBody>
      </p:sp>
      <p:sp>
        <p:nvSpPr>
          <p:cNvPr id="40" name="Text 34"/>
          <p:cNvSpPr/>
          <p:nvPr/>
        </p:nvSpPr>
        <p:spPr>
          <a:xfrm>
            <a:off x="5285232" y="431596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금액·시간·빈도·기기 변경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VELOCITY · SPLIT_TXN 등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4F8B"/>
          </a:solidFill>
          <a:ln w="12700">
            <a:solidFill>
              <a:srgbClr val="0D4F8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0" y="0"/>
            <a:ext cx="457200" cy="6858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부가 기능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27432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F2F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804672"/>
            <a:ext cx="2743200" cy="502920"/>
          </a:xfrm>
          <a:prstGeom prst="rect">
            <a:avLst/>
          </a:prstGeom>
          <a:solidFill>
            <a:srgbClr val="0D4F8B"/>
          </a:solidFill>
          <a:ln w="12700">
            <a:solidFill>
              <a:srgbClr val="0D4F8B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877824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86384" y="804672"/>
            <a:ext cx="2176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XAI (설명 가능 AI)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384048" y="1371600"/>
            <a:ext cx="25237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importance × |z-score| 기반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상위 3개 피처 Reason Code 제공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 친화적 판단 근거 설명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154680" y="804672"/>
            <a:ext cx="27432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F2F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154680" y="804672"/>
            <a:ext cx="2743200" cy="502920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6120" y="877824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66744" y="804672"/>
            <a:ext cx="2176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FIDO 인증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3264408" y="1371600"/>
            <a:ext cx="25237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생체 인증 기반 사용자 인증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Step-up Auth: REVIEW 이상 시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트리거 정보 반환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6035040" y="804672"/>
            <a:ext cx="27432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F2F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035040" y="804672"/>
            <a:ext cx="2743200" cy="50292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877824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547104" y="804672"/>
            <a:ext cx="2176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감정 기반 분석</a:t>
            </a:r>
            <a:endParaRPr lang="en-US" sz="1150" dirty="0"/>
          </a:p>
        </p:txBody>
      </p:sp>
      <p:sp>
        <p:nvSpPr>
          <p:cNvPr id="19" name="Text 14"/>
          <p:cNvSpPr/>
          <p:nvPr/>
        </p:nvSpPr>
        <p:spPr>
          <a:xfrm>
            <a:off x="6144768" y="1371600"/>
            <a:ext cx="25237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소비 패턴과 감정 상관 분석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충동 소비 감지 및 경고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감정 데이터 API 통합</a:t>
            </a:r>
            <a:endParaRPr lang="en-US" sz="1000" dirty="0"/>
          </a:p>
        </p:txBody>
      </p:sp>
      <p:sp>
        <p:nvSpPr>
          <p:cNvPr id="20" name="Shape 15"/>
          <p:cNvSpPr/>
          <p:nvPr/>
        </p:nvSpPr>
        <p:spPr>
          <a:xfrm>
            <a:off x="274320" y="2679192"/>
            <a:ext cx="27432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F2F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274320" y="2679192"/>
            <a:ext cx="2743200" cy="50292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2752344"/>
            <a:ext cx="347472" cy="34747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86384" y="2679192"/>
            <a:ext cx="2176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예산 전략 추천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384048" y="3246120"/>
            <a:ext cx="25237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소비 유형별 맞춤 예산 설계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절약 팁 · 카테고리 한도 추천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예산 80% 도달 시 알림</a:t>
            </a:r>
            <a:endParaRPr lang="en-US" sz="1000" dirty="0"/>
          </a:p>
        </p:txBody>
      </p:sp>
      <p:sp>
        <p:nvSpPr>
          <p:cNvPr id="25" name="Shape 19"/>
          <p:cNvSpPr/>
          <p:nvPr/>
        </p:nvSpPr>
        <p:spPr>
          <a:xfrm>
            <a:off x="3154680" y="2679192"/>
            <a:ext cx="27432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F2F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3154680" y="2679192"/>
            <a:ext cx="2743200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6120" y="2752344"/>
            <a:ext cx="347472" cy="34747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3666744" y="2679192"/>
            <a:ext cx="2176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금융 교육 콘텐츠</a:t>
            </a:r>
            <a:endParaRPr lang="en-US" sz="1150" dirty="0"/>
          </a:p>
        </p:txBody>
      </p:sp>
      <p:sp>
        <p:nvSpPr>
          <p:cNvPr id="29" name="Text 22"/>
          <p:cNvSpPr/>
          <p:nvPr/>
        </p:nvSpPr>
        <p:spPr>
          <a:xfrm>
            <a:off x="3264408" y="3246120"/>
            <a:ext cx="25237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소비 분석 결과 기반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맞춤형 금융 교육 제공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투자·저축 가이드</a:t>
            </a:r>
            <a:endParaRPr lang="en-US" sz="1000" dirty="0"/>
          </a:p>
        </p:txBody>
      </p:sp>
      <p:sp>
        <p:nvSpPr>
          <p:cNvPr id="30" name="Shape 23"/>
          <p:cNvSpPr/>
          <p:nvPr/>
        </p:nvSpPr>
        <p:spPr>
          <a:xfrm>
            <a:off x="6035040" y="2679192"/>
            <a:ext cx="27432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F2F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6035040" y="2679192"/>
            <a:ext cx="2743200" cy="50292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6480" y="2752344"/>
            <a:ext cx="347472" cy="347472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6547104" y="2679192"/>
            <a:ext cx="2176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알림 &amp; 보안 대시보드</a:t>
            </a:r>
            <a:endParaRPr lang="en-US" sz="1150" dirty="0"/>
          </a:p>
        </p:txBody>
      </p:sp>
      <p:sp>
        <p:nvSpPr>
          <p:cNvPr id="34" name="Text 26"/>
          <p:cNvSpPr/>
          <p:nvPr/>
        </p:nvSpPr>
        <p:spPr>
          <a:xfrm>
            <a:off x="6144768" y="3246120"/>
            <a:ext cx="252374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이상 거래 즉시 Push 알림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보안 현황 대시보드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위험 지표 시각화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9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4F8B"/>
          </a:solidFill>
          <a:ln w="12700">
            <a:solidFill>
              <a:srgbClr val="0D4F8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0" y="0"/>
            <a:ext cx="457200" cy="6858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개발 현황 &amp; 향후 계획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3931920" cy="4069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F2F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804672"/>
            <a:ext cx="64008" cy="4069080"/>
          </a:xfrm>
          <a:prstGeom prst="rect">
            <a:avLst/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6868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완료된 기능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1298448"/>
            <a:ext cx="35661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백엔드 + 전 API 라우트 구현</a:t>
            </a:r>
            <a:endParaRPr lang="en-US" sz="1050" dirty="0"/>
          </a:p>
          <a:p>
            <a:pPr algn="l"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/ Isolation Forest / LSTM / XGBoost ML 모델</a:t>
            </a:r>
            <a:endParaRPr lang="en-US" sz="1050" dirty="0"/>
          </a:p>
          <a:p>
            <a:pPr algn="l"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fraud-service 추론 API + 규칙 엔진</a:t>
            </a:r>
            <a:endParaRPr lang="en-US" sz="1050" dirty="0"/>
          </a:p>
          <a:p>
            <a:pPr algn="l"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(비지도) + RF (지도) + Hybrid 실험</a:t>
            </a:r>
            <a:endParaRPr lang="en-US" sz="1050" dirty="0"/>
          </a:p>
          <a:p>
            <a:pPr algn="l"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프론트엔드 기본 구조</a:t>
            </a:r>
            <a:endParaRPr lang="en-US" sz="1050" dirty="0"/>
          </a:p>
          <a:p>
            <a:pPr algn="l"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설정</a:t>
            </a:r>
            <a:endParaRPr lang="en-US" sz="1050" dirty="0"/>
          </a:p>
          <a:p>
            <a:pPr algn="l"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XAI Reason Code / FIDO / 감정 분석 API</a:t>
            </a:r>
            <a:endParaRPr lang="en-US" sz="1050" dirty="0"/>
          </a:p>
          <a:p>
            <a:pPr algn="l"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Alembic DB 마이그레이션 자동화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480560" y="804672"/>
            <a:ext cx="438912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F2F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480560" y="804672"/>
            <a:ext cx="64008" cy="192024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0" y="86868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 진행 중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63440" y="1298448"/>
            <a:ext cx="4114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연동 (InMemory → SQLAlchemy)</a:t>
            </a:r>
            <a:endParaRPr lang="en-US" sz="1050" dirty="0"/>
          </a:p>
          <a:p>
            <a:pPr algn="l"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Redis 캐시 TTL 설정</a:t>
            </a:r>
            <a:endParaRPr lang="en-US" sz="1050" dirty="0"/>
          </a:p>
          <a:p>
            <a:pPr algn="l"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/ XGBoost 학습 파이프라인 완성</a:t>
            </a:r>
            <a:endParaRPr lang="en-US" sz="1050" dirty="0"/>
          </a:p>
          <a:p>
            <a:pPr algn="l"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fraud-service ↔ backend 실제 연동 테스트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480560" y="2907792"/>
            <a:ext cx="438912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F2F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480560" y="2907792"/>
            <a:ext cx="64008" cy="1965960"/>
          </a:xfrm>
          <a:prstGeom prst="rect">
            <a:avLst/>
          </a:prstGeom>
          <a:solidFill>
            <a:srgbClr val="0D4F8B"/>
          </a:solidFill>
          <a:ln w="12700">
            <a:solidFill>
              <a:srgbClr val="0D4F8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0" y="297180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4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 후기 계획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663440" y="3401568"/>
            <a:ext cx="4114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인증 + 알림 기능 (예산 80%)</a:t>
            </a:r>
            <a:endParaRPr lang="en-US" sz="1050" dirty="0"/>
          </a:p>
          <a:p>
            <a:pPr algn="l"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Recharts 시계열 라인 차트</a:t>
            </a:r>
            <a:endParaRPr lang="en-US" sz="1050" dirty="0"/>
          </a:p>
          <a:p>
            <a:pPr algn="l"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파이프라인 구축</a:t>
            </a:r>
            <a:endParaRPr lang="en-US" sz="1050" dirty="0"/>
          </a:p>
          <a:p>
            <a:pPr algn="l" marL="342900" indent="-342900">
              <a:buSzPct val="100000"/>
              <a:buChar char="•"/>
            </a:pPr>
            <a:r>
              <a:rPr lang="en-US" sz="10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모바일 반응형 UI 개선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38344"/>
            <a:ext cx="9144000" cy="109728"/>
          </a:xfrm>
          <a:prstGeom prst="rect">
            <a:avLst/>
          </a:prstGeom>
          <a:solidFill>
            <a:srgbClr val="0891B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914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PayWise</a:t>
            </a:r>
            <a:endParaRPr lang="en-US" sz="4800" dirty="0"/>
          </a:p>
        </p:txBody>
      </p:sp>
      <p:sp>
        <p:nvSpPr>
          <p:cNvPr id="5" name="Shape 3"/>
          <p:cNvSpPr/>
          <p:nvPr/>
        </p:nvSpPr>
        <p:spPr>
          <a:xfrm>
            <a:off x="3200400" y="1783080"/>
            <a:ext cx="2743200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8745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A5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소비는 데이터다. AI로 더 스마트하게.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" y="2606040"/>
            <a:ext cx="2286000" cy="1143000"/>
          </a:xfrm>
          <a:prstGeom prst="rect">
            <a:avLst/>
          </a:prstGeom>
          <a:solidFill>
            <a:srgbClr val="0D3A6B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2606040"/>
            <a:ext cx="2286000" cy="6400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267004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소비 패턴 분석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05840" y="3081528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· IF · LSTM · XGBoost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566160" y="2606040"/>
            <a:ext cx="2286000" cy="1143000"/>
          </a:xfrm>
          <a:prstGeom prst="rect">
            <a:avLst/>
          </a:prstGeom>
          <a:solidFill>
            <a:srgbClr val="0D3A6B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66160" y="2606040"/>
            <a:ext cx="2286000" cy="6400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0" y="267004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사기 탐지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657600" y="3081528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ML + 규칙 엔진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17920" y="2606040"/>
            <a:ext cx="2286000" cy="1143000"/>
          </a:xfrm>
          <a:prstGeom prst="rect">
            <a:avLst/>
          </a:prstGeom>
          <a:solidFill>
            <a:srgbClr val="0D3A6B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2606040"/>
            <a:ext cx="2286000" cy="64008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309360" y="2670048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개인화 전략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09360" y="3081528"/>
            <a:ext cx="2103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XAI · 예산 추천 · 알림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40690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spc="300" kern="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감사합니다  —  Q &amp; A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PayWise — 캡스톤 중간 발표</dc:title>
  <dc:subject>PptxGenJS Presentation</dc:subject>
  <dc:creator>T15</dc:creator>
  <cp:lastModifiedBy>T15</cp:lastModifiedBy>
  <cp:revision>1</cp:revision>
  <dcterms:created xsi:type="dcterms:W3CDTF">2026-04-22T09:26:48Z</dcterms:created>
  <dcterms:modified xsi:type="dcterms:W3CDTF">2026-04-22T09:26:48Z</dcterms:modified>
</cp:coreProperties>
</file>